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906000"/>
  <p:notesSz cx="6811950" cy="9942500"/>
  <p:embeddedFontLst>
    <p:embeddedFont>
      <p:font typeface="Corbel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orient="horz" pos="119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1480">
          <p15:clr>
            <a:srgbClr val="A4A3A4"/>
          </p15:clr>
        </p15:guide>
        <p15:guide id="5" orient="horz" pos="2818">
          <p15:clr>
            <a:srgbClr val="A4A3A4"/>
          </p15:clr>
        </p15:guide>
        <p15:guide id="6" pos="3120">
          <p15:clr>
            <a:srgbClr val="A4A3A4"/>
          </p15:clr>
        </p15:guide>
        <p15:guide id="7" pos="126">
          <p15:clr>
            <a:srgbClr val="A4A3A4"/>
          </p15:clr>
        </p15:guide>
        <p15:guide id="8" pos="6114">
          <p15:clr>
            <a:srgbClr val="A4A3A4"/>
          </p15:clr>
        </p15:guide>
        <p15:guide id="9" pos="2145">
          <p15:clr>
            <a:srgbClr val="A4A3A4"/>
          </p15:clr>
        </p15:guide>
        <p15:guide id="10" pos="4118">
          <p15:clr>
            <a:srgbClr val="A4A3A4"/>
          </p15:clr>
        </p15:guide>
      </p15:sldGuideLst>
    </p:ext>
    <p:ext uri="{2D200454-40CA-4A62-9FC3-DE9A4176ACB9}">
      <p15:notesGuideLst>
        <p15:guide id="1" orient="horz" pos="3131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  <p:ext uri="GoogleSlidesCustomDataVersion2">
      <go:slidesCustomData xmlns:go="http://customooxmlschemas.google.com/" r:id="rId16" roundtripDataSignature="AMtx7mhd0MB2RyNooxfwrdE9w98oywmL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119" orient="horz"/>
        <p:guide pos="4201" orient="horz"/>
        <p:guide pos="1480" orient="horz"/>
        <p:guide pos="2818" orient="horz"/>
        <p:guide pos="3120"/>
        <p:guide pos="126"/>
        <p:guide pos="6114"/>
        <p:guide pos="2145"/>
        <p:guide pos="4118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31" orient="horz"/>
        <p:guide pos="2145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orbel-bold.fntdata"/><Relationship Id="rId12" Type="http://schemas.openxmlformats.org/officeDocument/2006/relationships/font" Target="fonts/Corbel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rbel-boldItalic.fntdata"/><Relationship Id="rId14" Type="http://schemas.openxmlformats.org/officeDocument/2006/relationships/font" Target="fonts/Corbel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527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6125" lIns="92250" spcFirstLastPara="1" rIns="92250" wrap="square" tIns="461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7625" y="0"/>
            <a:ext cx="29527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6125" lIns="92250" spcFirstLastPara="1" rIns="92250" wrap="square" tIns="461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2788" y="746125"/>
            <a:ext cx="5386387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1038" y="4722813"/>
            <a:ext cx="5449887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25" lIns="92250" spcFirstLastPara="1" rIns="92250" wrap="square" tIns="461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4038"/>
            <a:ext cx="295275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6125" lIns="92250" spcFirstLastPara="1" rIns="92250" wrap="square" tIns="461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7625" y="9444038"/>
            <a:ext cx="295275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6125" lIns="92250" spcFirstLastPara="1" rIns="92250" wrap="square" tIns="461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1038" y="4722813"/>
            <a:ext cx="5449887" cy="4473575"/>
          </a:xfrm>
          <a:prstGeom prst="rect">
            <a:avLst/>
          </a:prstGeom>
        </p:spPr>
        <p:txBody>
          <a:bodyPr anchorCtr="0" anchor="t" bIns="46125" lIns="92250" spcFirstLastPara="1" rIns="92250" wrap="square" tIns="461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712788" y="746125"/>
            <a:ext cx="5386387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712788" y="746125"/>
            <a:ext cx="5386387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1038" y="4722813"/>
            <a:ext cx="5449887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25" lIns="92250" spcFirstLastPara="1" rIns="92250" wrap="square" tIns="4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現在、貴社ではオンプレミス環境で「食べログ」サイトを構築し、5年間安定して運用を継続してきた実績がある。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ja-JP"/>
              <a:t>一方で、5年が経過した現在、システムの経年劣化とアクセス数の増加に伴い、インフラの抜本的な見直しが必要な時期を迎えている。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57625" y="9444038"/>
            <a:ext cx="295275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6125" lIns="92250" spcFirstLastPara="1" rIns="92250" wrap="square" tIns="46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712788" y="746125"/>
            <a:ext cx="5386387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1038" y="4722813"/>
            <a:ext cx="5449887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25" lIns="92250" spcFirstLastPara="1" rIns="92250" wrap="square" tIns="4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現在、貴社ではオンプレミス環境で「食べログ」サイトを構築し、5年間安定して運用を継続してきた実績がある。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ja-JP"/>
              <a:t>一方で、5年が経過した現在、システムの経年劣化とアクセス数の増加に伴い、インフラの抜本的な見直しが必要な時期を迎えている。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57625" y="9444038"/>
            <a:ext cx="295275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6125" lIns="92250" spcFirstLastPara="1" rIns="92250" wrap="square" tIns="46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712788" y="746125"/>
            <a:ext cx="5386387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1038" y="4722813"/>
            <a:ext cx="5449887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25" lIns="92250" spcFirstLastPara="1" rIns="92250" wrap="square" tIns="4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現在、貴社ではオンプレミス環境で「食べログ」サイトを構築し、5年間安定して運用を継続してきた実績がある。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ja-JP"/>
              <a:t>一方で、5年が経過した現在、システムの経年劣化とアクセス数の増加に伴い、インフラの抜本的な見直しが必要な時期を迎えている。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57625" y="9444038"/>
            <a:ext cx="295275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6125" lIns="92250" spcFirstLastPara="1" rIns="92250" wrap="square" tIns="46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712788" y="746125"/>
            <a:ext cx="5386387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1038" y="4722813"/>
            <a:ext cx="5449887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25" lIns="92250" spcFirstLastPara="1" rIns="92250" wrap="square" tIns="4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現在、貴社ではオンプレミス環境で「食べログ」サイトを構築し、5年間安定して運用を継続してきた実績がある。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ja-JP"/>
              <a:t>一方で、5年が経過した現在、システムの経年劣化とアクセス数の増加に伴い、インフラの抜本的な見直しが必要な時期を迎えている。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57625" y="9444038"/>
            <a:ext cx="295275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6125" lIns="92250" spcFirstLastPara="1" rIns="92250" wrap="square" tIns="46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712788" y="746125"/>
            <a:ext cx="5386387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1038" y="4722813"/>
            <a:ext cx="5449887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25" lIns="92250" spcFirstLastPara="1" rIns="92250" wrap="square" tIns="4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現在、貴社ではオンプレミス環境で「食べログ」サイトを構築し、5年間安定して運用を継続してきた実績がある。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ja-JP"/>
              <a:t>一方で、5年が経過した現在、システムの経年劣化とアクセス数の増加に伴い、インフラの抜本的な見直しが必要な時期を迎えている。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57625" y="9444038"/>
            <a:ext cx="295275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6125" lIns="92250" spcFirstLastPara="1" rIns="92250" wrap="square" tIns="46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8"/>
          <p:cNvSpPr/>
          <p:nvPr/>
        </p:nvSpPr>
        <p:spPr>
          <a:xfrm>
            <a:off x="0" y="6713538"/>
            <a:ext cx="9906000" cy="14446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8"/>
          <p:cNvSpPr txBox="1"/>
          <p:nvPr/>
        </p:nvSpPr>
        <p:spPr>
          <a:xfrm>
            <a:off x="8729075" y="6662658"/>
            <a:ext cx="117692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novel presentation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2"/>
          <p:cNvSpPr txBox="1"/>
          <p:nvPr>
            <p:ph idx="3" type="body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2"/>
          <p:cNvSpPr txBox="1"/>
          <p:nvPr>
            <p:ph idx="4" type="body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&#10;コンテンツ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5"/>
          <p:cNvSpPr txBox="1"/>
          <p:nvPr>
            <p:ph idx="2" type="body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/>
          <p:nvPr>
            <p:ph idx="2" type="pic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&#10;縦書きテキスト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 rot="5400000">
            <a:off x="5370513" y="2085977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 rot="5400000">
            <a:off x="830263" y="-60324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7023829" y="0"/>
            <a:ext cx="2682146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2026/9/27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63300" y="1149171"/>
            <a:ext cx="9379399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現行オンプレミス環境のAWS移行における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ターゲットアーキテクチャおよび技術設計提案書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85525" y="3013500"/>
            <a:ext cx="896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「コンテナ基盤（ECS on Fargate）および完全IaC（Terraform）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　　　　による次世代Webアプリケーションインフラの構築」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537325" y="5477996"/>
            <a:ext cx="30209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作成者：我有　顕彰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7118350" y="-3175"/>
            <a:ext cx="2659063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2026/9/27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06375" y="347663"/>
            <a:ext cx="9499600" cy="1428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現行オンプレミス環境のAWS移行におけるターゲットアーキテクチャおよび技術設計提案書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97576" y="1435532"/>
            <a:ext cx="851084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現行オンプレミス環境の技術的課題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611219" y="2903746"/>
            <a:ext cx="7187342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ja-JP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物理ハードウェア（経年5年）の老朽化リスク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ja-JP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リソース拡張性（スケーラビリティ）の限界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ja-JP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運用保守コストの逼迫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7118350" y="-3175"/>
            <a:ext cx="2659063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2026/9/27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206375" y="347663"/>
            <a:ext cx="9499600" cy="1428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現行オンプレミス環境のAWS移行におけるターゲットアーキテクチャおよび技術設計提案書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523970" y="1435532"/>
            <a:ext cx="851084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クラウド（AWS）移行における技術解決アプローチ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879101" y="2565610"/>
            <a:ext cx="8155717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サーバーレス（Fargate）への移行：</a:t>
            </a: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物理サーバーおよび仮想マシン（OSレイヤー）の管理をAWS側に移譲し、インフラの物理運用保守を完全にゼロ化。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多層防御による高可用性・耐障害性の確保： </a:t>
            </a: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2つのアベイラビリティゾーン（マルチAZ）にインフラを分散配置し、アクセス集中時は自動増減（Auto Scaling）で処理能力を維持。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インフラのコード管理（IaC）と自動デプロイ：</a:t>
            </a: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インフラの構成変更をすべてコード化し、アプリケーションのリリースと連動して全自動でデプロイを実行する環境の構築。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7118350" y="-3175"/>
            <a:ext cx="2659063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2026/9/27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206375" y="347663"/>
            <a:ext cx="9499600" cy="1428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現行オンプレミス環境のAWS移行におけるターゲットアーキテクチャおよび技術設計提案書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1733276" y="782400"/>
            <a:ext cx="66318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ターゲットアーキテクチャ定義（システム構成図）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5122431" y="1179513"/>
            <a:ext cx="4654982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ja-JP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エッジセキュリティ：　</a:t>
            </a:r>
            <a:r>
              <a:rPr lang="ja-JP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Route 53 から 　CloudFront + AWS WAF を経由し、 HTTPS (443) 通信のみ許可するセキュリティ最優先の設計。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ja-JP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ネットワーク隔離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ja-JP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アプリケーション（ECS）およびデータベース（RDS）は、パブリックIPを持たない「プライベートサブネット」に完全に隔離。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ja-JP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本番環境と検証環境も別々のVPCに分けることでデプロイ先の間違いを防ぐ。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ja-JP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自動スケーリング： 　</a:t>
            </a:r>
            <a:r>
              <a:rPr lang="ja-JP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高負荷時は Application Auto Scaling（図内の左端タスク重なり部分）により、CPU使用率に応じてタスク数を自動で増減。</a:t>
            </a:r>
            <a:endParaRPr/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894" y="1286143"/>
            <a:ext cx="3666676" cy="514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7118350" y="-3175"/>
            <a:ext cx="2659063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2026/9/27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206375" y="347663"/>
            <a:ext cx="9499600" cy="1428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現行オンプレミス環境のAWS移行におけるターゲットアーキテクチャおよび技術設計提案書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141025" y="935550"/>
            <a:ext cx="96303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Terraform（IaC）による自動構築インフラのパラメータ設計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943225" y="1903747"/>
            <a:ext cx="80259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ja-JP" sz="2000">
                <a:solidFill>
                  <a:schemeClr val="dk1"/>
                </a:solidFill>
                <a:highlight>
                  <a:srgbClr val="C0C0C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VPC / Subnet ネットワーク設計</a:t>
            </a: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 2つのアベイラビリティゾーン（1a / 1c）にパブリック・プライベートサブネットを完全に分離・画定。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ja-JP" sz="2000">
                <a:solidFill>
                  <a:schemeClr val="dk1"/>
                </a:solidFill>
                <a:highlight>
                  <a:srgbClr val="C0C0C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Amazon ECS / Fargate コンテナ設計</a:t>
            </a:r>
            <a:r>
              <a:rPr b="1"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 </a:t>
            </a: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パブリックIPを一切持たせない安全なプライベートサブネット内に、本番・検証用の各クラスター・サービスを独立して自動配置。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ja-JP" sz="2000">
                <a:solidFill>
                  <a:schemeClr val="dk1"/>
                </a:solidFill>
                <a:highlight>
                  <a:srgbClr val="C0C0C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Amazon RDS データベース設計</a:t>
            </a:r>
            <a:r>
              <a:rPr b="1"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MySQLを用いた主系・副系のMulti-AZ構成を定義。2AZ冗長化により、データの保護と自動フェイルオーバーを確立。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2879725" y="5382250"/>
            <a:ext cx="6471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chemeClr val="dk1"/>
                </a:solidFill>
              </a:rPr>
              <a:t>※本番スペック算出根拠：最大4タスク（全体で2 vCPU）へのAuto Scaling負荷から逆算。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chemeClr val="dk1"/>
                </a:solidFill>
              </a:rPr>
              <a:t>【</a:t>
            </a:r>
            <a:r>
              <a:rPr lang="ja-JP" sz="1100">
                <a:solidFill>
                  <a:schemeClr val="dk1"/>
                </a:solidFill>
              </a:rPr>
              <a:t>ECS</a:t>
            </a:r>
            <a:r>
              <a:rPr lang="ja-JP" sz="1100">
                <a:solidFill>
                  <a:schemeClr val="dk1"/>
                </a:solidFill>
              </a:rPr>
              <a:t>】</a:t>
            </a:r>
            <a:r>
              <a:rPr lang="ja-JP" sz="1100">
                <a:solidFill>
                  <a:schemeClr val="dk1"/>
                </a:solidFill>
              </a:rPr>
              <a:t>Laravel最大消費メモリ（128MiB）の4並列処理分とシステム領域（300MiB）を合算した </a:t>
            </a:r>
            <a:r>
              <a:rPr b="1" lang="ja-JP" sz="1050">
                <a:latin typeface="Times New Roman"/>
                <a:ea typeface="Times New Roman"/>
                <a:cs typeface="Times New Roman"/>
                <a:sym typeface="Times New Roman"/>
              </a:rPr>
              <a:t>300＋128×4＝812 MiB</a:t>
            </a:r>
            <a:r>
              <a:rPr b="1" lang="ja-JP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ja-JP" sz="1100">
                <a:solidFill>
                  <a:schemeClr val="dk1"/>
                </a:solidFill>
              </a:rPr>
              <a:t>から、Fargate規格の </a:t>
            </a:r>
            <a:r>
              <a:rPr b="1" lang="ja-JP" sz="1200">
                <a:solidFill>
                  <a:schemeClr val="dk1"/>
                </a:solidFill>
              </a:rPr>
              <a:t>0.5 vCPU / 1,024 MiB (1 GiB)</a:t>
            </a:r>
            <a:r>
              <a:rPr lang="ja-JP" sz="1100">
                <a:solidFill>
                  <a:schemeClr val="dk1"/>
                </a:solidFill>
              </a:rPr>
              <a:t> を算出・採用。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chemeClr val="dk1"/>
                </a:solidFill>
              </a:rPr>
              <a:t>【</a:t>
            </a:r>
            <a:r>
              <a:rPr lang="ja-JP" sz="1100">
                <a:solidFill>
                  <a:schemeClr val="dk1"/>
                </a:solidFill>
              </a:rPr>
              <a:t>RDS</a:t>
            </a:r>
            <a:r>
              <a:rPr lang="ja-JP" sz="1100">
                <a:solidFill>
                  <a:schemeClr val="dk1"/>
                </a:solidFill>
              </a:rPr>
              <a:t>】</a:t>
            </a:r>
            <a:r>
              <a:rPr lang="ja-JP" sz="1100">
                <a:solidFill>
                  <a:schemeClr val="dk1"/>
                </a:solidFill>
              </a:rPr>
              <a:t>最大16並列となるECSからの同時接続・大量クエリを安全に受け止めるため、検証用（micro）からメモリを2倍に拡張した </a:t>
            </a:r>
            <a:r>
              <a:rPr b="1" lang="ja-JP" sz="1050">
                <a:latin typeface="Courier New"/>
                <a:ea typeface="Courier New"/>
                <a:cs typeface="Courier New"/>
                <a:sym typeface="Courier New"/>
              </a:rPr>
              <a:t>db.t4g.small</a:t>
            </a:r>
            <a:r>
              <a:rPr b="1" lang="ja-JP" sz="1200">
                <a:solidFill>
                  <a:schemeClr val="dk1"/>
                </a:solidFill>
              </a:rPr>
              <a:t> (2 GiBメモリ)</a:t>
            </a:r>
            <a:r>
              <a:rPr lang="ja-JP" sz="1100">
                <a:solidFill>
                  <a:schemeClr val="dk1"/>
                </a:solidFill>
              </a:rPr>
              <a:t> を選定し、メモリ不足によるクラッシュを防止。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/>
        </p:nvSpPr>
        <p:spPr>
          <a:xfrm>
            <a:off x="7118350" y="-3175"/>
            <a:ext cx="2659063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2026/9/27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206375" y="347663"/>
            <a:ext cx="9499600" cy="1428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現行オンプレミス環境のAWS移行におけるターゲットアーキテクチャおよび技術設計提案書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523970" y="1435532"/>
            <a:ext cx="851084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GitHub連携による完全自動デプロイメント（IaC）フロー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879101" y="2565610"/>
            <a:ext cx="815571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CodePipelineによるリリースの完全自動化： </a:t>
            </a: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GitHubの各ブランチ（mainマージ ➔ 本番 / devマージ ➔ 検証）へのプッシュをトリガーに、ビルドからECSデプロイまでをコンベア式に全自動実行。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CodeBuildによるコンテナイメージ化： </a:t>
            </a: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Dockerfile.deployment を用いてApache+PHP8.2環境のイメージを高速ビルドし、マイグレーション専用タスクを実行後、Amazon ECRへ安全にプッシュ。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本番・検証環境の分離：</a:t>
            </a:r>
            <a:r>
              <a:rPr lang="ja-JP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本番用（prod）と検証用（dev）のディレクトリをそれぞれ作成し、そこからTerraform（HCLコード）により各環境の全インフラを踏み台サーバーごと一括自動生成。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2011-03-10T02:27:33Z</dcterms:created>
  <dc:creator>kawai</dc:creator>
</cp:coreProperties>
</file>